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A42A68-6687-49EC-9433-76CCC35A380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D2F7B8-6793-4EE2-96E7-0888DEB6C97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FF7A62-3DFE-45BD-9222-657C9BA8491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682CE2-6958-4C58-BCFE-31FFD85A513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B93D37-2E35-429B-B4FE-C292E84EE4E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27B947-9571-45AC-8386-37C95B88EE8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A70D77-81D4-4AD4-ABEC-00FE045F3BB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7EC54D-37F7-4886-9938-B0EE6CA6BED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A55D60-5E09-4789-8402-511E675799C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0E462A-323B-4056-B32C-C49F1C6BBEB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0D4D08-A213-461A-A5FD-A089B5EC967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11031480" y="88560"/>
            <a:ext cx="7448760" cy="10155240"/>
            <a:chOff x="11031480" y="88560"/>
            <a:chExt cx="7448760" cy="10155240"/>
          </a:xfrm>
        </p:grpSpPr>
        <p:sp>
          <p:nvSpPr>
            <p:cNvPr id="60" name="Freeform 3"/>
            <p:cNvSpPr/>
            <p:nvPr/>
          </p:nvSpPr>
          <p:spPr>
            <a:xfrm>
              <a:off x="11031480" y="88560"/>
              <a:ext cx="7448760" cy="10155240"/>
            </a:xfrm>
            <a:custGeom>
              <a:avLst/>
              <a:gdLst>
                <a:gd name="textAreaLeft" fmla="*/ 0 w 7448760"/>
                <a:gd name="textAreaRight" fmla="*/ 7449120 w 7448760"/>
                <a:gd name="textAreaTop" fmla="*/ 0 h 10155240"/>
                <a:gd name="textAreaBottom" fmla="*/ 10155600 h 10155240"/>
              </a:gdLst>
              <a:ahLst/>
              <a:cxnLst/>
              <a:rect l="textAreaLeft" t="textAreaTop" r="textAreaRight" b="textAreaBottom"/>
              <a:pathLst>
                <a:path w="1072489" h="1462180">
                  <a:moveTo>
                    <a:pt x="31179" y="0"/>
                  </a:moveTo>
                  <a:lnTo>
                    <a:pt x="1041309" y="0"/>
                  </a:lnTo>
                  <a:cubicBezTo>
                    <a:pt x="1058529" y="0"/>
                    <a:pt x="1072489" y="13960"/>
                    <a:pt x="1072489" y="31179"/>
                  </a:cubicBezTo>
                  <a:lnTo>
                    <a:pt x="1072489" y="1431000"/>
                  </a:lnTo>
                  <a:cubicBezTo>
                    <a:pt x="1072489" y="1448220"/>
                    <a:pt x="1058529" y="1462180"/>
                    <a:pt x="1041309" y="1462180"/>
                  </a:cubicBezTo>
                  <a:lnTo>
                    <a:pt x="31179" y="1462180"/>
                  </a:lnTo>
                  <a:cubicBezTo>
                    <a:pt x="22910" y="1462180"/>
                    <a:pt x="14980" y="1458895"/>
                    <a:pt x="9132" y="1453048"/>
                  </a:cubicBezTo>
                  <a:cubicBezTo>
                    <a:pt x="3285" y="1447200"/>
                    <a:pt x="0" y="1439270"/>
                    <a:pt x="0" y="1431000"/>
                  </a:cubicBezTo>
                  <a:lnTo>
                    <a:pt x="0" y="31179"/>
                  </a:lnTo>
                  <a:cubicBezTo>
                    <a:pt x="0" y="13960"/>
                    <a:pt x="13960" y="0"/>
                    <a:pt x="31179" y="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TextBox 4"/>
          <p:cNvSpPr/>
          <p:nvPr/>
        </p:nvSpPr>
        <p:spPr>
          <a:xfrm>
            <a:off x="666720" y="3262680"/>
            <a:ext cx="10067400" cy="40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0375"/>
              </a:lnSpc>
              <a:tabLst>
                <a:tab algn="l" pos="0"/>
              </a:tabLst>
            </a:pPr>
            <a:r>
              <a:rPr b="0" lang="en-US" sz="10370" spc="-312" strike="noStrike" u="none">
                <a:solidFill>
                  <a:srgbClr val="000000"/>
                </a:solidFill>
                <a:effectLst/>
                <a:uFillTx/>
                <a:latin typeface="DM Sans"/>
                <a:ea typeface="DM Sans"/>
              </a:rPr>
              <a:t>AI-Powered Skin Condition Detection</a:t>
            </a:r>
            <a:endParaRPr b="0" lang="en-US" sz="103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5"/>
          <p:cNvSpPr/>
          <p:nvPr/>
        </p:nvSpPr>
        <p:spPr>
          <a:xfrm>
            <a:off x="2104920" y="9394920"/>
            <a:ext cx="688608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183"/>
              </a:lnSpc>
              <a:tabLst>
                <a:tab algn="l" pos="0"/>
              </a:tabLst>
            </a:pPr>
            <a:r>
              <a:rPr b="0" lang="en-US" sz="2660" strike="noStrike" u="none">
                <a:solidFill>
                  <a:srgbClr val="7a7a7a"/>
                </a:solidFill>
                <a:effectLst/>
                <a:uFillTx/>
                <a:latin typeface="DM Sans"/>
                <a:ea typeface="DM Sans"/>
              </a:rPr>
              <a:t>December 2, 2025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2"/>
          <p:cNvGrpSpPr/>
          <p:nvPr/>
        </p:nvGrpSpPr>
        <p:grpSpPr>
          <a:xfrm>
            <a:off x="7858080" y="-17280"/>
            <a:ext cx="10429560" cy="10303920"/>
            <a:chOff x="7858080" y="-17280"/>
            <a:chExt cx="10429560" cy="10303920"/>
          </a:xfrm>
        </p:grpSpPr>
        <p:sp>
          <p:nvSpPr>
            <p:cNvPr id="64" name="Freeform 3"/>
            <p:cNvSpPr/>
            <p:nvPr/>
          </p:nvSpPr>
          <p:spPr>
            <a:xfrm>
              <a:off x="7858080" y="19080"/>
              <a:ext cx="10429560" cy="10267560"/>
            </a:xfrm>
            <a:custGeom>
              <a:avLst/>
              <a:gdLst>
                <a:gd name="textAreaLeft" fmla="*/ 0 w 10429560"/>
                <a:gd name="textAreaRight" fmla="*/ 10429920 w 10429560"/>
                <a:gd name="textAreaTop" fmla="*/ 0 h 10267560"/>
                <a:gd name="textAreaBottom" fmla="*/ 10267920 h 10267560"/>
              </a:gdLst>
              <a:ahLst/>
              <a:cxnLst/>
              <a:rect l="textAreaLeft" t="textAreaTop" r="textAreaRight" b="textAreaBottom"/>
              <a:pathLst>
                <a:path w="2746963" h="2704316">
                  <a:moveTo>
                    <a:pt x="0" y="0"/>
                  </a:moveTo>
                  <a:lnTo>
                    <a:pt x="2746963" y="0"/>
                  </a:lnTo>
                  <a:lnTo>
                    <a:pt x="2746963" y="2704316"/>
                  </a:lnTo>
                  <a:lnTo>
                    <a:pt x="0" y="2704316"/>
                  </a:lnTo>
                  <a:close/>
                </a:path>
              </a:pathLst>
            </a:custGeom>
            <a:solidFill>
              <a:srgbClr val="7a7a7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TextBox 4"/>
            <p:cNvSpPr/>
            <p:nvPr/>
          </p:nvSpPr>
          <p:spPr>
            <a:xfrm>
              <a:off x="7858080" y="-17280"/>
              <a:ext cx="10429560" cy="1030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174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66" name="Group 5"/>
          <p:cNvGrpSpPr/>
          <p:nvPr/>
        </p:nvGrpSpPr>
        <p:grpSpPr>
          <a:xfrm>
            <a:off x="11223360" y="1403280"/>
            <a:ext cx="3699360" cy="7498800"/>
            <a:chOff x="11223360" y="1403280"/>
            <a:chExt cx="3699360" cy="7498800"/>
          </a:xfrm>
        </p:grpSpPr>
        <p:sp>
          <p:nvSpPr>
            <p:cNvPr id="67" name="Freeform 6"/>
            <p:cNvSpPr/>
            <p:nvPr/>
          </p:nvSpPr>
          <p:spPr>
            <a:xfrm>
              <a:off x="11381400" y="1522080"/>
              <a:ext cx="3372120" cy="7261560"/>
            </a:xfrm>
            <a:custGeom>
              <a:avLst/>
              <a:gdLst>
                <a:gd name="textAreaLeft" fmla="*/ 0 w 3372120"/>
                <a:gd name="textAreaRight" fmla="*/ 3372480 w 3372120"/>
                <a:gd name="textAreaTop" fmla="*/ 0 h 7261560"/>
                <a:gd name="textAreaBottom" fmla="*/ 7261920 h 7261560"/>
              </a:gdLst>
              <a:ahLst/>
              <a:cxnLst/>
              <a:rect l="textAreaLeft" t="textAreaTop" r="textAreaRight" b="textAreaBottom"/>
              <a:pathLst>
                <a:path w="8566912" h="18446877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Freeform 7"/>
            <p:cNvSpPr/>
            <p:nvPr/>
          </p:nvSpPr>
          <p:spPr>
            <a:xfrm>
              <a:off x="11223360" y="1403280"/>
              <a:ext cx="3699360" cy="7498800"/>
            </a:xfrm>
            <a:custGeom>
              <a:avLst/>
              <a:gdLst>
                <a:gd name="textAreaLeft" fmla="*/ 0 w 3699360"/>
                <a:gd name="textAreaRight" fmla="*/ 3699720 w 3699360"/>
                <a:gd name="textAreaTop" fmla="*/ 0 h 7498800"/>
                <a:gd name="textAreaBottom" fmla="*/ 7499160 h 7498800"/>
              </a:gdLst>
              <a:ahLst/>
              <a:cxnLst/>
              <a:rect l="textAreaLeft" t="textAreaTop" r="textAreaRight" b="textAreaBottom"/>
              <a:pathLst>
                <a:path w="9398000" h="19050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9" name="Group 8"/>
          <p:cNvGrpSpPr/>
          <p:nvPr/>
        </p:nvGrpSpPr>
        <p:grpSpPr>
          <a:xfrm>
            <a:off x="581040" y="2275920"/>
            <a:ext cx="6972120" cy="4788000"/>
            <a:chOff x="581040" y="2275920"/>
            <a:chExt cx="6972120" cy="4788000"/>
          </a:xfrm>
        </p:grpSpPr>
        <p:sp>
          <p:nvSpPr>
            <p:cNvPr id="70" name="TextBox 9"/>
            <p:cNvSpPr/>
            <p:nvPr/>
          </p:nvSpPr>
          <p:spPr>
            <a:xfrm>
              <a:off x="581040" y="2966040"/>
              <a:ext cx="6972120" cy="239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9000"/>
                </a:lnSpc>
                <a:tabLst>
                  <a:tab algn="l" pos="0"/>
                </a:tabLst>
              </a:pPr>
              <a:r>
                <a:rPr b="0" lang="en-US" sz="9000" spc="-269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Need for Skin Analysis</a:t>
              </a:r>
              <a:endParaRPr b="0" lang="en-US" sz="9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TextBox 10"/>
            <p:cNvSpPr/>
            <p:nvPr/>
          </p:nvSpPr>
          <p:spPr>
            <a:xfrm>
              <a:off x="581040" y="5587920"/>
              <a:ext cx="5524200" cy="1476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398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>
                      <a:alpha val="98000"/>
                    </a:srgbClr>
                  </a:solidFill>
                  <a:effectLst/>
                  <a:uFillTx/>
                  <a:latin typeface="DM Sans"/>
                  <a:ea typeface="DM Sans"/>
                </a:rPr>
                <a:t>Many individuals experience </a:t>
              </a:r>
              <a:r>
                <a:rPr b="1" lang="en-US" sz="2000" strike="noStrike" u="none">
                  <a:solidFill>
                    <a:srgbClr val="000000">
                      <a:alpha val="98000"/>
                    </a:srgbClr>
                  </a:solidFill>
                  <a:effectLst/>
                  <a:uFillTx/>
                  <a:latin typeface="DM Sans Bold"/>
                  <a:ea typeface="DM Sans Bold"/>
                </a:rPr>
                <a:t>misdiagnosis</a:t>
              </a:r>
              <a:r>
                <a:rPr b="0" lang="en-US" sz="2000" strike="noStrike" u="none">
                  <a:solidFill>
                    <a:srgbClr val="000000">
                      <a:alpha val="98000"/>
                    </a:srgbClr>
                  </a:solidFill>
                  <a:effectLst/>
                  <a:uFillTx/>
                  <a:latin typeface="DM Sans"/>
                  <a:ea typeface="DM Sans"/>
                </a:rPr>
                <a:t> due to varying conditions, limited access to professionals, and inconsistent lighting. Automating analysis enhances accuracy and accessibility for users.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TextBox 11"/>
            <p:cNvSpPr/>
            <p:nvPr/>
          </p:nvSpPr>
          <p:spPr>
            <a:xfrm>
              <a:off x="581040" y="2275920"/>
              <a:ext cx="697212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801"/>
                </a:lnSpc>
                <a:tabLst>
                  <a:tab algn="l" pos="0"/>
                </a:tabLst>
              </a:pPr>
              <a:r>
                <a:rPr b="0" lang="en-US" sz="2000" spc="17" strike="noStrike" u="none">
                  <a:solidFill>
                    <a:srgbClr val="7a7a7a"/>
                  </a:solidFill>
                  <a:effectLst/>
                  <a:uFillTx/>
                  <a:latin typeface="DM Sans"/>
                  <a:ea typeface="DM Sans"/>
                </a:rPr>
                <a:t>AUTOMATION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2"/>
          <p:cNvGrpSpPr/>
          <p:nvPr/>
        </p:nvGrpSpPr>
        <p:grpSpPr>
          <a:xfrm>
            <a:off x="11210040" y="96120"/>
            <a:ext cx="6980400" cy="10094400"/>
            <a:chOff x="11210040" y="96120"/>
            <a:chExt cx="6980400" cy="10094400"/>
          </a:xfrm>
        </p:grpSpPr>
        <p:sp>
          <p:nvSpPr>
            <p:cNvPr id="74" name="Freeform 3"/>
            <p:cNvSpPr/>
            <p:nvPr/>
          </p:nvSpPr>
          <p:spPr>
            <a:xfrm>
              <a:off x="11210040" y="96120"/>
              <a:ext cx="6980400" cy="10094400"/>
            </a:xfrm>
            <a:custGeom>
              <a:avLst/>
              <a:gdLst>
                <a:gd name="textAreaLeft" fmla="*/ 0 w 6980400"/>
                <a:gd name="textAreaRight" fmla="*/ 6980760 w 6980400"/>
                <a:gd name="textAreaTop" fmla="*/ 0 h 10094400"/>
                <a:gd name="textAreaBottom" fmla="*/ 10094760 h 10094400"/>
              </a:gdLst>
              <a:ahLst/>
              <a:cxnLst/>
              <a:rect l="textAreaLeft" t="textAreaTop" r="textAreaRight" b="textAreaBottom"/>
              <a:pathLst>
                <a:path w="1081520" h="1563968">
                  <a:moveTo>
                    <a:pt x="33271" y="0"/>
                  </a:moveTo>
                  <a:lnTo>
                    <a:pt x="1048249" y="0"/>
                  </a:lnTo>
                  <a:cubicBezTo>
                    <a:pt x="1057073" y="0"/>
                    <a:pt x="1065536" y="3505"/>
                    <a:pt x="1071775" y="9745"/>
                  </a:cubicBezTo>
                  <a:cubicBezTo>
                    <a:pt x="1078015" y="15984"/>
                    <a:pt x="1081520" y="24447"/>
                    <a:pt x="1081520" y="33271"/>
                  </a:cubicBezTo>
                  <a:lnTo>
                    <a:pt x="1081520" y="1530697"/>
                  </a:lnTo>
                  <a:cubicBezTo>
                    <a:pt x="1081520" y="1549072"/>
                    <a:pt x="1066624" y="1563968"/>
                    <a:pt x="1048249" y="1563968"/>
                  </a:cubicBezTo>
                  <a:lnTo>
                    <a:pt x="33271" y="1563968"/>
                  </a:lnTo>
                  <a:cubicBezTo>
                    <a:pt x="14896" y="1563968"/>
                    <a:pt x="0" y="1549072"/>
                    <a:pt x="0" y="1530697"/>
                  </a:cubicBezTo>
                  <a:lnTo>
                    <a:pt x="0" y="33271"/>
                  </a:lnTo>
                  <a:cubicBezTo>
                    <a:pt x="0" y="24447"/>
                    <a:pt x="3505" y="15984"/>
                    <a:pt x="9745" y="9745"/>
                  </a:cubicBezTo>
                  <a:cubicBezTo>
                    <a:pt x="15984" y="3505"/>
                    <a:pt x="24447" y="0"/>
                    <a:pt x="33271" y="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5" name="Group 4"/>
          <p:cNvGrpSpPr/>
          <p:nvPr/>
        </p:nvGrpSpPr>
        <p:grpSpPr>
          <a:xfrm>
            <a:off x="571680" y="1640520"/>
            <a:ext cx="8419680" cy="3426480"/>
            <a:chOff x="571680" y="1640520"/>
            <a:chExt cx="8419680" cy="3426480"/>
          </a:xfrm>
        </p:grpSpPr>
        <p:sp>
          <p:nvSpPr>
            <p:cNvPr id="76" name="TextBox 5"/>
            <p:cNvSpPr/>
            <p:nvPr/>
          </p:nvSpPr>
          <p:spPr>
            <a:xfrm>
              <a:off x="571680" y="1640520"/>
              <a:ext cx="8419680" cy="8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6001"/>
                </a:lnSpc>
                <a:tabLst>
                  <a:tab algn="l" pos="0"/>
                </a:tabLst>
              </a:pPr>
              <a:r>
                <a:rPr b="0" lang="en-US" sz="6000" spc="-179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AI-Based Face Analysis</a:t>
              </a:r>
              <a:endParaRPr b="0" lang="en-US" sz="6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6"/>
            <p:cNvSpPr/>
            <p:nvPr/>
          </p:nvSpPr>
          <p:spPr>
            <a:xfrm>
              <a:off x="571680" y="3536280"/>
              <a:ext cx="8419680" cy="153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401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The </a:t>
              </a: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DM Sans Bold"/>
                  <a:ea typeface="DM Sans Bold"/>
                </a:rPr>
                <a:t>AI-powered face analysis</a:t>
              </a: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 solution leverages machine learning to analyze selfies for skin condition detection. The workflow begins with image preprocessing, followed by a convolutional neural network (CNN) that identifies patterns. The final output includes predictions with confidence metrics, ensuring reliable results for users.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7"/>
            <p:cNvSpPr/>
            <p:nvPr/>
          </p:nvSpPr>
          <p:spPr>
            <a:xfrm>
              <a:off x="571680" y="2724120"/>
              <a:ext cx="8419680" cy="628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01"/>
                </a:lnSpc>
                <a:tabLst>
                  <a:tab algn="l" pos="0"/>
                </a:tabLst>
              </a:pPr>
              <a:r>
                <a:rPr b="1" lang="en-US" sz="4500" spc="-136" strike="noStrike" u="none">
                  <a:solidFill>
                    <a:srgbClr val="7a7a7a"/>
                  </a:solidFill>
                  <a:effectLst/>
                  <a:uFillTx/>
                  <a:latin typeface="DM Sans Bold"/>
                  <a:ea typeface="DM Sans Bold"/>
                </a:rPr>
                <a:t>Understanding the Workflow</a:t>
              </a:r>
              <a:endParaRPr b="0" lang="en-US" sz="4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TextBox 8"/>
          <p:cNvSpPr/>
          <p:nvPr/>
        </p:nvSpPr>
        <p:spPr>
          <a:xfrm>
            <a:off x="4905360" y="520920"/>
            <a:ext cx="311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  <a:tabLst>
                <a:tab algn="l" pos="0"/>
              </a:tabLst>
            </a:pPr>
            <a:r>
              <a:rPr b="1" lang="en-US" sz="1400" spc="-20" strike="noStrike" u="none">
                <a:solidFill>
                  <a:srgbClr val="000000"/>
                </a:solidFill>
                <a:effectLst/>
                <a:uFillTx/>
                <a:latin typeface="DM Sans Bold"/>
                <a:ea typeface="DM Sans Bold"/>
              </a:rPr>
              <a:t>PROPOSED SOLUTION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571680" y="520920"/>
            <a:ext cx="311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  <a:tabLst>
                <a:tab algn="l" pos="0"/>
              </a:tabLst>
            </a:pPr>
            <a:r>
              <a:rPr b="1" lang="en-US" sz="1400" spc="-20" strike="noStrike" u="none">
                <a:solidFill>
                  <a:srgbClr val="000000"/>
                </a:solidFill>
                <a:effectLst/>
                <a:uFillTx/>
                <a:latin typeface="DM Sans Bold"/>
                <a:ea typeface="DM Sans Bold"/>
              </a:rPr>
              <a:t>AI-POWERED SKIN DETECTION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2"/>
          <p:cNvGrpSpPr/>
          <p:nvPr/>
        </p:nvGrpSpPr>
        <p:grpSpPr>
          <a:xfrm>
            <a:off x="7858080" y="-17280"/>
            <a:ext cx="10429560" cy="10303920"/>
            <a:chOff x="7858080" y="-17280"/>
            <a:chExt cx="10429560" cy="10303920"/>
          </a:xfrm>
        </p:grpSpPr>
        <p:sp>
          <p:nvSpPr>
            <p:cNvPr id="82" name="Freeform 3"/>
            <p:cNvSpPr/>
            <p:nvPr/>
          </p:nvSpPr>
          <p:spPr>
            <a:xfrm>
              <a:off x="7858080" y="19080"/>
              <a:ext cx="10429560" cy="10267560"/>
            </a:xfrm>
            <a:custGeom>
              <a:avLst/>
              <a:gdLst>
                <a:gd name="textAreaLeft" fmla="*/ 0 w 10429560"/>
                <a:gd name="textAreaRight" fmla="*/ 10429920 w 10429560"/>
                <a:gd name="textAreaTop" fmla="*/ 0 h 10267560"/>
                <a:gd name="textAreaBottom" fmla="*/ 10267920 h 10267560"/>
              </a:gdLst>
              <a:ahLst/>
              <a:cxnLst/>
              <a:rect l="textAreaLeft" t="textAreaTop" r="textAreaRight" b="textAreaBottom"/>
              <a:pathLst>
                <a:path w="2746963" h="2704316">
                  <a:moveTo>
                    <a:pt x="0" y="0"/>
                  </a:moveTo>
                  <a:lnTo>
                    <a:pt x="2746963" y="0"/>
                  </a:lnTo>
                  <a:lnTo>
                    <a:pt x="2746963" y="2704316"/>
                  </a:lnTo>
                  <a:lnTo>
                    <a:pt x="0" y="2704316"/>
                  </a:lnTo>
                  <a:close/>
                </a:path>
              </a:pathLst>
            </a:custGeom>
            <a:solidFill>
              <a:srgbClr val="7a7a7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4"/>
            <p:cNvSpPr/>
            <p:nvPr/>
          </p:nvSpPr>
          <p:spPr>
            <a:xfrm>
              <a:off x="7858080" y="-17280"/>
              <a:ext cx="10429560" cy="1030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174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84" name="Group 5"/>
          <p:cNvGrpSpPr/>
          <p:nvPr/>
        </p:nvGrpSpPr>
        <p:grpSpPr>
          <a:xfrm>
            <a:off x="11223360" y="1403280"/>
            <a:ext cx="3699360" cy="7498800"/>
            <a:chOff x="11223360" y="1403280"/>
            <a:chExt cx="3699360" cy="7498800"/>
          </a:xfrm>
        </p:grpSpPr>
        <p:sp>
          <p:nvSpPr>
            <p:cNvPr id="85" name="Freeform 6"/>
            <p:cNvSpPr/>
            <p:nvPr/>
          </p:nvSpPr>
          <p:spPr>
            <a:xfrm>
              <a:off x="11381400" y="1522080"/>
              <a:ext cx="3372120" cy="7261560"/>
            </a:xfrm>
            <a:custGeom>
              <a:avLst/>
              <a:gdLst>
                <a:gd name="textAreaLeft" fmla="*/ 0 w 3372120"/>
                <a:gd name="textAreaRight" fmla="*/ 3372480 w 3372120"/>
                <a:gd name="textAreaTop" fmla="*/ 0 h 7261560"/>
                <a:gd name="textAreaBottom" fmla="*/ 7261920 h 7261560"/>
              </a:gdLst>
              <a:ahLst/>
              <a:cxnLst/>
              <a:rect l="textAreaLeft" t="textAreaTop" r="textAreaRight" b="textAreaBottom"/>
              <a:pathLst>
                <a:path w="8566912" h="18446877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Freeform 7"/>
            <p:cNvSpPr/>
            <p:nvPr/>
          </p:nvSpPr>
          <p:spPr>
            <a:xfrm>
              <a:off x="11223360" y="1403280"/>
              <a:ext cx="3699360" cy="7498800"/>
            </a:xfrm>
            <a:custGeom>
              <a:avLst/>
              <a:gdLst>
                <a:gd name="textAreaLeft" fmla="*/ 0 w 3699360"/>
                <a:gd name="textAreaRight" fmla="*/ 3699720 w 3699360"/>
                <a:gd name="textAreaTop" fmla="*/ 0 h 7498800"/>
                <a:gd name="textAreaBottom" fmla="*/ 7499160 h 7498800"/>
              </a:gdLst>
              <a:ahLst/>
              <a:cxnLst/>
              <a:rect l="textAreaLeft" t="textAreaTop" r="textAreaRight" b="textAreaBottom"/>
              <a:pathLst>
                <a:path w="9398000" h="19050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7" name="Group 8"/>
          <p:cNvGrpSpPr/>
          <p:nvPr/>
        </p:nvGrpSpPr>
        <p:grpSpPr>
          <a:xfrm>
            <a:off x="581040" y="2275920"/>
            <a:ext cx="6972120" cy="5574600"/>
            <a:chOff x="581040" y="2275920"/>
            <a:chExt cx="6972120" cy="5574600"/>
          </a:xfrm>
        </p:grpSpPr>
        <p:sp>
          <p:nvSpPr>
            <p:cNvPr id="88" name="TextBox 9"/>
            <p:cNvSpPr/>
            <p:nvPr/>
          </p:nvSpPr>
          <p:spPr>
            <a:xfrm>
              <a:off x="581040" y="2966040"/>
              <a:ext cx="6972120" cy="347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8850"/>
                </a:lnSpc>
                <a:tabLst>
                  <a:tab algn="l" pos="0"/>
                </a:tabLst>
              </a:pPr>
              <a:r>
                <a:rPr b="0" lang="en-US" sz="8850" spc="-264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Pipeline &amp; Preprocessing Overview</a:t>
              </a:r>
              <a:endParaRPr b="0" lang="en-US" sz="8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TextBox 10"/>
            <p:cNvSpPr/>
            <p:nvPr/>
          </p:nvSpPr>
          <p:spPr>
            <a:xfrm>
              <a:off x="581040" y="6669720"/>
              <a:ext cx="5524200" cy="118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398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>
                      <a:alpha val="98000"/>
                    </a:srgbClr>
                  </a:solidFill>
                  <a:effectLst/>
                  <a:uFillTx/>
                  <a:latin typeface="DM Sans"/>
                  <a:ea typeface="DM Sans"/>
                </a:rPr>
                <a:t>Our pipeline processes </a:t>
              </a:r>
              <a:r>
                <a:rPr b="1" lang="en-US" sz="2000" strike="noStrike" u="none">
                  <a:solidFill>
                    <a:srgbClr val="000000">
                      <a:alpha val="98000"/>
                    </a:srgbClr>
                  </a:solidFill>
                  <a:effectLst/>
                  <a:uFillTx/>
                  <a:latin typeface="DM Sans Bold"/>
                  <a:ea typeface="DM Sans Bold"/>
                </a:rPr>
                <a:t>~4000 images</a:t>
              </a:r>
              <a:r>
                <a:rPr b="0" lang="en-US" sz="2000" strike="noStrike" u="none">
                  <a:solidFill>
                    <a:srgbClr val="000000">
                      <a:alpha val="98000"/>
                    </a:srgbClr>
                  </a:solidFill>
                  <a:effectLst/>
                  <a:uFillTx/>
                  <a:latin typeface="DM Sans"/>
                  <a:ea typeface="DM Sans"/>
                </a:rPr>
                <a:t>, utilizing techniques like face cropping, normalization, and data augmentation to enhance model robustness and accuracy.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TextBox 11"/>
            <p:cNvSpPr/>
            <p:nvPr/>
          </p:nvSpPr>
          <p:spPr>
            <a:xfrm>
              <a:off x="581040" y="2275920"/>
              <a:ext cx="697212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801"/>
                </a:lnSpc>
                <a:tabLst>
                  <a:tab algn="l" pos="0"/>
                </a:tabLst>
              </a:pPr>
              <a:r>
                <a:rPr b="0" lang="en-US" sz="2000" spc="17" strike="noStrike" u="none">
                  <a:solidFill>
                    <a:srgbClr val="7a7a7a"/>
                  </a:solidFill>
                  <a:effectLst/>
                  <a:uFillTx/>
                  <a:latin typeface="DM Sans"/>
                  <a:ea typeface="DM Sans"/>
                </a:rPr>
                <a:t>DATA PIPELINE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2"/>
          <p:cNvGrpSpPr/>
          <p:nvPr/>
        </p:nvGrpSpPr>
        <p:grpSpPr>
          <a:xfrm>
            <a:off x="11210040" y="96120"/>
            <a:ext cx="6980400" cy="10094400"/>
            <a:chOff x="11210040" y="96120"/>
            <a:chExt cx="6980400" cy="10094400"/>
          </a:xfrm>
        </p:grpSpPr>
        <p:sp>
          <p:nvSpPr>
            <p:cNvPr id="92" name="Freeform 3"/>
            <p:cNvSpPr/>
            <p:nvPr/>
          </p:nvSpPr>
          <p:spPr>
            <a:xfrm>
              <a:off x="11210040" y="96120"/>
              <a:ext cx="6980400" cy="10094400"/>
            </a:xfrm>
            <a:custGeom>
              <a:avLst/>
              <a:gdLst>
                <a:gd name="textAreaLeft" fmla="*/ 0 w 6980400"/>
                <a:gd name="textAreaRight" fmla="*/ 6980760 w 6980400"/>
                <a:gd name="textAreaTop" fmla="*/ 0 h 10094400"/>
                <a:gd name="textAreaBottom" fmla="*/ 10094760 h 10094400"/>
              </a:gdLst>
              <a:ahLst/>
              <a:cxnLst/>
              <a:rect l="textAreaLeft" t="textAreaTop" r="textAreaRight" b="textAreaBottom"/>
              <a:pathLst>
                <a:path w="1081520" h="1563968">
                  <a:moveTo>
                    <a:pt x="33271" y="0"/>
                  </a:moveTo>
                  <a:lnTo>
                    <a:pt x="1048249" y="0"/>
                  </a:lnTo>
                  <a:cubicBezTo>
                    <a:pt x="1057073" y="0"/>
                    <a:pt x="1065536" y="3505"/>
                    <a:pt x="1071775" y="9745"/>
                  </a:cubicBezTo>
                  <a:cubicBezTo>
                    <a:pt x="1078015" y="15984"/>
                    <a:pt x="1081520" y="24447"/>
                    <a:pt x="1081520" y="33271"/>
                  </a:cubicBezTo>
                  <a:lnTo>
                    <a:pt x="1081520" y="1530697"/>
                  </a:lnTo>
                  <a:cubicBezTo>
                    <a:pt x="1081520" y="1549072"/>
                    <a:pt x="1066624" y="1563968"/>
                    <a:pt x="1048249" y="1563968"/>
                  </a:cubicBezTo>
                  <a:lnTo>
                    <a:pt x="33271" y="1563968"/>
                  </a:lnTo>
                  <a:cubicBezTo>
                    <a:pt x="14896" y="1563968"/>
                    <a:pt x="0" y="1549072"/>
                    <a:pt x="0" y="1530697"/>
                  </a:cubicBezTo>
                  <a:lnTo>
                    <a:pt x="0" y="33271"/>
                  </a:lnTo>
                  <a:cubicBezTo>
                    <a:pt x="0" y="24447"/>
                    <a:pt x="3505" y="15984"/>
                    <a:pt x="9745" y="9745"/>
                  </a:cubicBezTo>
                  <a:cubicBezTo>
                    <a:pt x="15984" y="3505"/>
                    <a:pt x="24447" y="0"/>
                    <a:pt x="33271" y="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" name="Group 4"/>
          <p:cNvGrpSpPr/>
          <p:nvPr/>
        </p:nvGrpSpPr>
        <p:grpSpPr>
          <a:xfrm>
            <a:off x="685800" y="2057400"/>
            <a:ext cx="8458200" cy="4114800"/>
            <a:chOff x="685800" y="2057400"/>
            <a:chExt cx="8458200" cy="4114800"/>
          </a:xfrm>
        </p:grpSpPr>
        <p:sp>
          <p:nvSpPr>
            <p:cNvPr id="94" name="TextBox 5"/>
            <p:cNvSpPr/>
            <p:nvPr/>
          </p:nvSpPr>
          <p:spPr>
            <a:xfrm>
              <a:off x="685800" y="2057400"/>
              <a:ext cx="8419680" cy="8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6001"/>
                </a:lnSpc>
                <a:tabLst>
                  <a:tab algn="l" pos="0"/>
                </a:tabLst>
              </a:pPr>
              <a:r>
                <a:rPr b="0" lang="en-US" sz="6000" spc="-179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VGG16 Transfer Learning</a:t>
              </a:r>
              <a:endParaRPr b="0" lang="en-US" sz="6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TextBox 6"/>
            <p:cNvSpPr/>
            <p:nvPr/>
          </p:nvSpPr>
          <p:spPr>
            <a:xfrm>
              <a:off x="724320" y="4641480"/>
              <a:ext cx="8419680" cy="153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401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The VGG16 architecture leverages transfer learning by utilizing a pretrained model with frozen layers for feature extraction. A custom dense head is added to classify images into three categories: acne, dark circles, and skin tone, enhancing accuracy and efficiency in skin condition detection.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TextBox 7"/>
            <p:cNvSpPr/>
            <p:nvPr/>
          </p:nvSpPr>
          <p:spPr>
            <a:xfrm>
              <a:off x="685800" y="3886200"/>
              <a:ext cx="8419680" cy="628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01"/>
                </a:lnSpc>
                <a:tabLst>
                  <a:tab algn="l" pos="0"/>
                </a:tabLst>
              </a:pPr>
              <a:r>
                <a:rPr b="1" lang="en-US" sz="4500" spc="-136" strike="noStrike" u="none">
                  <a:solidFill>
                    <a:srgbClr val="7a7a7a"/>
                  </a:solidFill>
                  <a:effectLst/>
                  <a:uFillTx/>
                  <a:latin typeface="DM Sans Bold"/>
                  <a:ea typeface="DM Sans Bold"/>
                </a:rPr>
                <a:t>Model Framework</a:t>
              </a:r>
              <a:endParaRPr b="0" lang="en-US" sz="4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" name="TextBox 8"/>
          <p:cNvSpPr/>
          <p:nvPr/>
        </p:nvSpPr>
        <p:spPr>
          <a:xfrm>
            <a:off x="4905360" y="520920"/>
            <a:ext cx="311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  <a:tabLst>
                <a:tab algn="l" pos="0"/>
              </a:tabLst>
            </a:pPr>
            <a:r>
              <a:rPr b="1" lang="en-US" sz="1400" spc="-20" strike="noStrike" u="none">
                <a:solidFill>
                  <a:srgbClr val="000000"/>
                </a:solidFill>
                <a:effectLst/>
                <a:uFillTx/>
                <a:latin typeface="DM Sans Bold"/>
                <a:ea typeface="DM Sans Bold"/>
              </a:rPr>
              <a:t>MODEL ARCHITECTURE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9"/>
          <p:cNvSpPr/>
          <p:nvPr/>
        </p:nvSpPr>
        <p:spPr>
          <a:xfrm>
            <a:off x="571680" y="520920"/>
            <a:ext cx="3111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  <a:tabLst>
                <a:tab algn="l" pos="0"/>
              </a:tabLst>
            </a:pPr>
            <a:r>
              <a:rPr b="1" lang="en-US" sz="1400" spc="-20" strike="noStrike" u="none">
                <a:solidFill>
                  <a:srgbClr val="000000"/>
                </a:solidFill>
                <a:effectLst/>
                <a:uFillTx/>
                <a:latin typeface="DM Sans Bold"/>
                <a:ea typeface="DM Sans Bold"/>
              </a:rPr>
              <a:t>AI-POWERED SKIN CONDITION DETECTION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2"/>
          <p:cNvGrpSpPr/>
          <p:nvPr/>
        </p:nvGrpSpPr>
        <p:grpSpPr>
          <a:xfrm>
            <a:off x="9389160" y="-62640"/>
            <a:ext cx="10073160" cy="10303560"/>
            <a:chOff x="9389160" y="-62640"/>
            <a:chExt cx="10073160" cy="10303560"/>
          </a:xfrm>
        </p:grpSpPr>
        <p:sp>
          <p:nvSpPr>
            <p:cNvPr id="100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89160" y="45720"/>
              <a:ext cx="10073160" cy="10195200"/>
            </a:xfrm>
            <a:custGeom>
              <a:avLst/>
              <a:gdLst>
                <a:gd name="textAreaLeft" fmla="*/ 0 w 10073160"/>
                <a:gd name="textAreaRight" fmla="*/ 10073520 w 10073160"/>
                <a:gd name="textAreaTop" fmla="*/ 0 h 10195200"/>
                <a:gd name="textAreaBottom" fmla="*/ 10195560 h 10195200"/>
              </a:gdLst>
              <a:ahLst/>
              <a:cxnLst/>
              <a:rect l="textAreaLeft" t="textAreaTop" r="textAreaRight" b="textAreaBottom"/>
              <a:pathLst>
                <a:path w="2653062" h="2685227">
                  <a:moveTo>
                    <a:pt x="23057" y="0"/>
                  </a:moveTo>
                  <a:lnTo>
                    <a:pt x="2630005" y="0"/>
                  </a:lnTo>
                  <a:cubicBezTo>
                    <a:pt x="2636120" y="0"/>
                    <a:pt x="2641985" y="2429"/>
                    <a:pt x="2646309" y="6753"/>
                  </a:cubicBezTo>
                  <a:cubicBezTo>
                    <a:pt x="2650633" y="11077"/>
                    <a:pt x="2653062" y="16942"/>
                    <a:pt x="2653062" y="23057"/>
                  </a:cubicBezTo>
                  <a:lnTo>
                    <a:pt x="2653062" y="2662171"/>
                  </a:lnTo>
                  <a:cubicBezTo>
                    <a:pt x="2653062" y="2668286"/>
                    <a:pt x="2650633" y="2674150"/>
                    <a:pt x="2646309" y="2678474"/>
                  </a:cubicBezTo>
                  <a:cubicBezTo>
                    <a:pt x="2641985" y="2682798"/>
                    <a:pt x="2636120" y="2685227"/>
                    <a:pt x="2630005" y="2685227"/>
                  </a:cubicBezTo>
                  <a:lnTo>
                    <a:pt x="23057" y="2685227"/>
                  </a:lnTo>
                  <a:cubicBezTo>
                    <a:pt x="16942" y="2685227"/>
                    <a:pt x="11077" y="2682798"/>
                    <a:pt x="6753" y="2678474"/>
                  </a:cubicBezTo>
                  <a:cubicBezTo>
                    <a:pt x="2429" y="2674150"/>
                    <a:pt x="0" y="2668286"/>
                    <a:pt x="0" y="2662171"/>
                  </a:cubicBezTo>
                  <a:lnTo>
                    <a:pt x="0" y="23057"/>
                  </a:lnTo>
                  <a:cubicBezTo>
                    <a:pt x="0" y="16942"/>
                    <a:pt x="2429" y="11077"/>
                    <a:pt x="6753" y="6753"/>
                  </a:cubicBezTo>
                  <a:cubicBezTo>
                    <a:pt x="11077" y="2429"/>
                    <a:pt x="16942" y="0"/>
                    <a:pt x="23057" y="0"/>
                  </a:cubicBezTo>
                  <a:close/>
                </a:path>
              </a:pathLst>
            </a:custGeom>
            <a:solidFill>
              <a:srgbClr val="9494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TextBox 4"/>
            <p:cNvSpPr/>
            <p:nvPr/>
          </p:nvSpPr>
          <p:spPr>
            <a:xfrm>
              <a:off x="9389160" y="-62640"/>
              <a:ext cx="10073160" cy="1030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1911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2" name="TextBox 5"/>
          <p:cNvSpPr/>
          <p:nvPr/>
        </p:nvSpPr>
        <p:spPr>
          <a:xfrm>
            <a:off x="547560" y="636120"/>
            <a:ext cx="8425080" cy="187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223"/>
              </a:lnSpc>
              <a:tabLst>
                <a:tab algn="l" pos="0"/>
              </a:tabLst>
            </a:pPr>
            <a:r>
              <a:rPr b="0" lang="en-US" sz="7230" spc="-215" strike="noStrike" u="none">
                <a:solidFill>
                  <a:srgbClr val="000000"/>
                </a:solidFill>
                <a:effectLst/>
                <a:uFillTx/>
                <a:latin typeface="DM Sans"/>
                <a:ea typeface="DM Sans"/>
              </a:rPr>
              <a:t>Training Performance Metrics</a:t>
            </a:r>
            <a:endParaRPr b="0" lang="en-US" sz="7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roup 6"/>
          <p:cNvGrpSpPr/>
          <p:nvPr/>
        </p:nvGrpSpPr>
        <p:grpSpPr>
          <a:xfrm>
            <a:off x="457200" y="3278520"/>
            <a:ext cx="8426520" cy="7008480"/>
            <a:chOff x="457200" y="3278520"/>
            <a:chExt cx="8426520" cy="7008480"/>
          </a:xfrm>
        </p:grpSpPr>
        <p:sp>
          <p:nvSpPr>
            <p:cNvPr id="104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57200" y="3386880"/>
              <a:ext cx="8426520" cy="6900120"/>
            </a:xfrm>
            <a:custGeom>
              <a:avLst/>
              <a:gdLst>
                <a:gd name="textAreaLeft" fmla="*/ 0 w 8426520"/>
                <a:gd name="textAreaRight" fmla="*/ 8426880 w 8426520"/>
                <a:gd name="textAreaTop" fmla="*/ 0 h 6900120"/>
                <a:gd name="textAreaBottom" fmla="*/ 6900480 h 6900120"/>
              </a:gdLst>
              <a:ahLst/>
              <a:cxnLst/>
              <a:rect l="textAreaLeft" t="textAreaTop" r="textAreaRight" b="textAreaBottom"/>
              <a:pathLst>
                <a:path w="2219468" h="1817363">
                  <a:moveTo>
                    <a:pt x="27561" y="0"/>
                  </a:moveTo>
                  <a:lnTo>
                    <a:pt x="2191907" y="0"/>
                  </a:lnTo>
                  <a:cubicBezTo>
                    <a:pt x="2199217" y="0"/>
                    <a:pt x="2206227" y="2904"/>
                    <a:pt x="2211395" y="8072"/>
                  </a:cubicBezTo>
                  <a:cubicBezTo>
                    <a:pt x="2216564" y="13241"/>
                    <a:pt x="2219468" y="20251"/>
                    <a:pt x="2219468" y="27561"/>
                  </a:cubicBezTo>
                  <a:lnTo>
                    <a:pt x="2219468" y="1789802"/>
                  </a:lnTo>
                  <a:cubicBezTo>
                    <a:pt x="2219468" y="1805023"/>
                    <a:pt x="2207128" y="1817363"/>
                    <a:pt x="2191907" y="1817363"/>
                  </a:cubicBezTo>
                  <a:lnTo>
                    <a:pt x="27561" y="1817363"/>
                  </a:lnTo>
                  <a:cubicBezTo>
                    <a:pt x="12339" y="1817363"/>
                    <a:pt x="0" y="1805023"/>
                    <a:pt x="0" y="1789802"/>
                  </a:cubicBezTo>
                  <a:lnTo>
                    <a:pt x="0" y="27561"/>
                  </a:lnTo>
                  <a:cubicBezTo>
                    <a:pt x="0" y="12339"/>
                    <a:pt x="12339" y="0"/>
                    <a:pt x="27561" y="0"/>
                  </a:cubicBezTo>
                  <a:close/>
                </a:path>
              </a:pathLst>
            </a:custGeom>
            <a:solidFill>
              <a:srgbClr val="d4d4d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TextBox 8"/>
            <p:cNvSpPr/>
            <p:nvPr/>
          </p:nvSpPr>
          <p:spPr>
            <a:xfrm>
              <a:off x="457200" y="3278520"/>
              <a:ext cx="8426520" cy="700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1911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06" name="Picture 9" descr=""/>
          <p:cNvPicPr/>
          <p:nvPr/>
        </p:nvPicPr>
        <p:blipFill>
          <a:blip r:embed="rId1"/>
          <a:stretch/>
        </p:blipFill>
        <p:spPr>
          <a:xfrm>
            <a:off x="8972640" y="113760"/>
            <a:ext cx="9671760" cy="9975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7" name="Group 10"/>
          <p:cNvGrpSpPr/>
          <p:nvPr/>
        </p:nvGrpSpPr>
        <p:grpSpPr>
          <a:xfrm>
            <a:off x="1000080" y="4969800"/>
            <a:ext cx="7611120" cy="3664440"/>
            <a:chOff x="1000080" y="4969800"/>
            <a:chExt cx="7611120" cy="3664440"/>
          </a:xfrm>
        </p:grpSpPr>
        <p:sp>
          <p:nvSpPr>
            <p:cNvPr id="108" name="TextBox 11"/>
            <p:cNvSpPr/>
            <p:nvPr/>
          </p:nvSpPr>
          <p:spPr>
            <a:xfrm>
              <a:off x="1000080" y="7967880"/>
              <a:ext cx="7611120" cy="66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5298"/>
                </a:lnSpc>
                <a:tabLst>
                  <a:tab algn="l" pos="0"/>
                </a:tabLst>
              </a:pPr>
              <a:r>
                <a:rPr b="0" lang="en-US" sz="4420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Validation accuracy achieved</a:t>
              </a:r>
              <a:endParaRPr b="0" lang="en-US" sz="44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TextBox 12"/>
            <p:cNvSpPr/>
            <p:nvPr/>
          </p:nvSpPr>
          <p:spPr>
            <a:xfrm>
              <a:off x="1000080" y="4969800"/>
              <a:ext cx="7596720" cy="289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0968"/>
                </a:lnSpc>
                <a:tabLst>
                  <a:tab algn="l" pos="0"/>
                </a:tabLst>
              </a:pPr>
              <a:r>
                <a:rPr b="0" lang="en-US" sz="20970" spc="-1049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89</a:t>
              </a:r>
              <a:endParaRPr b="0" lang="en-US" sz="209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2"/>
          <p:cNvGrpSpPr/>
          <p:nvPr/>
        </p:nvGrpSpPr>
        <p:grpSpPr>
          <a:xfrm>
            <a:off x="11002320" y="96120"/>
            <a:ext cx="6980400" cy="10094400"/>
            <a:chOff x="11002320" y="96120"/>
            <a:chExt cx="6980400" cy="10094400"/>
          </a:xfrm>
        </p:grpSpPr>
        <p:sp>
          <p:nvSpPr>
            <p:cNvPr id="111" name="Freeform 3"/>
            <p:cNvSpPr/>
            <p:nvPr/>
          </p:nvSpPr>
          <p:spPr>
            <a:xfrm>
              <a:off x="11002320" y="96120"/>
              <a:ext cx="6980400" cy="10094400"/>
            </a:xfrm>
            <a:custGeom>
              <a:avLst/>
              <a:gdLst>
                <a:gd name="textAreaLeft" fmla="*/ 0 w 6980400"/>
                <a:gd name="textAreaRight" fmla="*/ 6980760 w 6980400"/>
                <a:gd name="textAreaTop" fmla="*/ 0 h 10094400"/>
                <a:gd name="textAreaBottom" fmla="*/ 10094760 h 10094400"/>
              </a:gdLst>
              <a:ahLst/>
              <a:cxnLst/>
              <a:rect l="textAreaLeft" t="textAreaTop" r="textAreaRight" b="textAreaBottom"/>
              <a:pathLst>
                <a:path w="1081520" h="1563968">
                  <a:moveTo>
                    <a:pt x="33271" y="0"/>
                  </a:moveTo>
                  <a:lnTo>
                    <a:pt x="1048249" y="0"/>
                  </a:lnTo>
                  <a:cubicBezTo>
                    <a:pt x="1057073" y="0"/>
                    <a:pt x="1065536" y="3505"/>
                    <a:pt x="1071775" y="9745"/>
                  </a:cubicBezTo>
                  <a:cubicBezTo>
                    <a:pt x="1078015" y="15984"/>
                    <a:pt x="1081520" y="24447"/>
                    <a:pt x="1081520" y="33271"/>
                  </a:cubicBezTo>
                  <a:lnTo>
                    <a:pt x="1081520" y="1530697"/>
                  </a:lnTo>
                  <a:cubicBezTo>
                    <a:pt x="1081520" y="1549072"/>
                    <a:pt x="1066624" y="1563968"/>
                    <a:pt x="1048249" y="1563968"/>
                  </a:cubicBezTo>
                  <a:lnTo>
                    <a:pt x="33271" y="1563968"/>
                  </a:lnTo>
                  <a:cubicBezTo>
                    <a:pt x="14896" y="1563968"/>
                    <a:pt x="0" y="1549072"/>
                    <a:pt x="0" y="1530697"/>
                  </a:cubicBezTo>
                  <a:lnTo>
                    <a:pt x="0" y="33271"/>
                  </a:lnTo>
                  <a:cubicBezTo>
                    <a:pt x="0" y="24447"/>
                    <a:pt x="3505" y="15984"/>
                    <a:pt x="9745" y="9745"/>
                  </a:cubicBezTo>
                  <a:cubicBezTo>
                    <a:pt x="15984" y="3505"/>
                    <a:pt x="24447" y="0"/>
                    <a:pt x="33271" y="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2" name="Group 4"/>
          <p:cNvGrpSpPr/>
          <p:nvPr/>
        </p:nvGrpSpPr>
        <p:grpSpPr>
          <a:xfrm>
            <a:off x="571680" y="1640520"/>
            <a:ext cx="8419680" cy="3426480"/>
            <a:chOff x="571680" y="1640520"/>
            <a:chExt cx="8419680" cy="3426480"/>
          </a:xfrm>
        </p:grpSpPr>
        <p:sp>
          <p:nvSpPr>
            <p:cNvPr id="113" name="TextBox 5"/>
            <p:cNvSpPr/>
            <p:nvPr/>
          </p:nvSpPr>
          <p:spPr>
            <a:xfrm>
              <a:off x="571680" y="1640520"/>
              <a:ext cx="8419680" cy="8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6001"/>
                </a:lnSpc>
                <a:tabLst>
                  <a:tab algn="l" pos="0"/>
                </a:tabLst>
              </a:pPr>
              <a:r>
                <a:rPr b="0" lang="en-US" sz="6000" spc="-179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Deployment Workflow</a:t>
              </a:r>
              <a:endParaRPr b="0" lang="en-US" sz="6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TextBox 6"/>
            <p:cNvSpPr/>
            <p:nvPr/>
          </p:nvSpPr>
          <p:spPr>
            <a:xfrm>
              <a:off x="571680" y="3536280"/>
              <a:ext cx="8419680" cy="153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401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The model is served through a Flask REST API, providing a simplified interface for users. The /predict endpoint returns a JSON response with the prediction and confidence level, allowing for seamless integration into applications and enhancing user experience through efficient real-time analysis.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TextBox 7"/>
            <p:cNvSpPr/>
            <p:nvPr/>
          </p:nvSpPr>
          <p:spPr>
            <a:xfrm>
              <a:off x="571680" y="2724120"/>
              <a:ext cx="8419680" cy="628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01"/>
                </a:lnSpc>
                <a:tabLst>
                  <a:tab algn="l" pos="0"/>
                </a:tabLst>
              </a:pPr>
              <a:r>
                <a:rPr b="1" lang="en-US" sz="4500" spc="-136" strike="noStrike" u="none">
                  <a:solidFill>
                    <a:srgbClr val="7a7a7a"/>
                  </a:solidFill>
                  <a:effectLst/>
                  <a:uFillTx/>
                  <a:latin typeface="DM Sans Bold"/>
                  <a:ea typeface="DM Sans Bold"/>
                </a:rPr>
                <a:t>How the Model Serves</a:t>
              </a:r>
              <a:endParaRPr b="0" lang="en-US" sz="4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" name="TextBox 8"/>
          <p:cNvSpPr/>
          <p:nvPr/>
        </p:nvSpPr>
        <p:spPr>
          <a:xfrm>
            <a:off x="4905360" y="520920"/>
            <a:ext cx="311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  <a:tabLst>
                <a:tab algn="l" pos="0"/>
              </a:tabLst>
            </a:pPr>
            <a:r>
              <a:rPr b="1" lang="en-US" sz="1400" spc="-20" strike="noStrike" u="none">
                <a:solidFill>
                  <a:srgbClr val="000000"/>
                </a:solidFill>
                <a:effectLst/>
                <a:uFillTx/>
                <a:latin typeface="DM Sans Bold"/>
                <a:ea typeface="DM Sans Bold"/>
              </a:rPr>
              <a:t>API DEPLOYMENT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9"/>
          <p:cNvSpPr/>
          <p:nvPr/>
        </p:nvSpPr>
        <p:spPr>
          <a:xfrm>
            <a:off x="571680" y="520920"/>
            <a:ext cx="311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  <a:tabLst>
                <a:tab algn="l" pos="0"/>
              </a:tabLst>
            </a:pPr>
            <a:r>
              <a:rPr b="1" lang="en-US" sz="1400" spc="-20" strike="noStrike" u="none">
                <a:solidFill>
                  <a:srgbClr val="000000"/>
                </a:solidFill>
                <a:effectLst/>
                <a:uFillTx/>
                <a:latin typeface="DM Sans Bold"/>
                <a:ea typeface="DM Sans Bold"/>
              </a:rPr>
              <a:t>SKIN CONDITION DETECTION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2"/>
          <p:cNvGrpSpPr/>
          <p:nvPr/>
        </p:nvGrpSpPr>
        <p:grpSpPr>
          <a:xfrm>
            <a:off x="7858080" y="-17280"/>
            <a:ext cx="10429560" cy="10303920"/>
            <a:chOff x="7858080" y="-17280"/>
            <a:chExt cx="10429560" cy="10303920"/>
          </a:xfrm>
        </p:grpSpPr>
        <p:sp>
          <p:nvSpPr>
            <p:cNvPr id="119" name="Freeform 3"/>
            <p:cNvSpPr/>
            <p:nvPr/>
          </p:nvSpPr>
          <p:spPr>
            <a:xfrm>
              <a:off x="7858080" y="19080"/>
              <a:ext cx="10429560" cy="10267560"/>
            </a:xfrm>
            <a:custGeom>
              <a:avLst/>
              <a:gdLst>
                <a:gd name="textAreaLeft" fmla="*/ 0 w 10429560"/>
                <a:gd name="textAreaRight" fmla="*/ 10429920 w 10429560"/>
                <a:gd name="textAreaTop" fmla="*/ 0 h 10267560"/>
                <a:gd name="textAreaBottom" fmla="*/ 10267920 h 10267560"/>
              </a:gdLst>
              <a:ahLst/>
              <a:cxnLst/>
              <a:rect l="textAreaLeft" t="textAreaTop" r="textAreaRight" b="textAreaBottom"/>
              <a:pathLst>
                <a:path w="2746963" h="2704316">
                  <a:moveTo>
                    <a:pt x="0" y="0"/>
                  </a:moveTo>
                  <a:lnTo>
                    <a:pt x="2746963" y="0"/>
                  </a:lnTo>
                  <a:lnTo>
                    <a:pt x="2746963" y="2704316"/>
                  </a:lnTo>
                  <a:lnTo>
                    <a:pt x="0" y="2704316"/>
                  </a:lnTo>
                  <a:close/>
                </a:path>
              </a:pathLst>
            </a:custGeom>
            <a:solidFill>
              <a:srgbClr val="7a7a7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TextBox 4"/>
            <p:cNvSpPr/>
            <p:nvPr/>
          </p:nvSpPr>
          <p:spPr>
            <a:xfrm>
              <a:off x="7858080" y="-17280"/>
              <a:ext cx="10429560" cy="1030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174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21" name="Group 5"/>
          <p:cNvGrpSpPr/>
          <p:nvPr/>
        </p:nvGrpSpPr>
        <p:grpSpPr>
          <a:xfrm>
            <a:off x="11223360" y="1403280"/>
            <a:ext cx="3699360" cy="7498800"/>
            <a:chOff x="11223360" y="1403280"/>
            <a:chExt cx="3699360" cy="7498800"/>
          </a:xfrm>
        </p:grpSpPr>
        <p:sp>
          <p:nvSpPr>
            <p:cNvPr id="122" name="Freeform 6"/>
            <p:cNvSpPr/>
            <p:nvPr/>
          </p:nvSpPr>
          <p:spPr>
            <a:xfrm>
              <a:off x="11381400" y="1522080"/>
              <a:ext cx="3372120" cy="7261560"/>
            </a:xfrm>
            <a:custGeom>
              <a:avLst/>
              <a:gdLst>
                <a:gd name="textAreaLeft" fmla="*/ 0 w 3372120"/>
                <a:gd name="textAreaRight" fmla="*/ 3372480 w 3372120"/>
                <a:gd name="textAreaTop" fmla="*/ 0 h 7261560"/>
                <a:gd name="textAreaBottom" fmla="*/ 7261920 h 7261560"/>
              </a:gdLst>
              <a:ahLst/>
              <a:cxnLst/>
              <a:rect l="textAreaLeft" t="textAreaTop" r="textAreaRight" b="textAreaBottom"/>
              <a:pathLst>
                <a:path w="8566912" h="18446877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Freeform 7"/>
            <p:cNvSpPr/>
            <p:nvPr/>
          </p:nvSpPr>
          <p:spPr>
            <a:xfrm>
              <a:off x="11223360" y="1403280"/>
              <a:ext cx="3699360" cy="7498800"/>
            </a:xfrm>
            <a:custGeom>
              <a:avLst/>
              <a:gdLst>
                <a:gd name="textAreaLeft" fmla="*/ 0 w 3699360"/>
                <a:gd name="textAreaRight" fmla="*/ 3699720 w 3699360"/>
                <a:gd name="textAreaTop" fmla="*/ 0 h 7498800"/>
                <a:gd name="textAreaBottom" fmla="*/ 7499160 h 7498800"/>
              </a:gdLst>
              <a:ahLst/>
              <a:cxnLst/>
              <a:rect l="textAreaLeft" t="textAreaTop" r="textAreaRight" b="textAreaBottom"/>
              <a:pathLst>
                <a:path w="9398000" h="19050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" name="Group 8"/>
          <p:cNvGrpSpPr/>
          <p:nvPr/>
        </p:nvGrpSpPr>
        <p:grpSpPr>
          <a:xfrm>
            <a:off x="581040" y="2275920"/>
            <a:ext cx="6972120" cy="5635800"/>
            <a:chOff x="581040" y="2275920"/>
            <a:chExt cx="6972120" cy="5635800"/>
          </a:xfrm>
        </p:grpSpPr>
        <p:sp>
          <p:nvSpPr>
            <p:cNvPr id="125" name="TextBox 9"/>
            <p:cNvSpPr/>
            <p:nvPr/>
          </p:nvSpPr>
          <p:spPr>
            <a:xfrm>
              <a:off x="581040" y="2966040"/>
              <a:ext cx="6972120" cy="353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9000"/>
                </a:lnSpc>
                <a:tabLst>
                  <a:tab algn="l" pos="0"/>
                </a:tabLst>
              </a:pPr>
              <a:r>
                <a:rPr b="0" lang="en-US" sz="9000" spc="-269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Current Model Constraints</a:t>
              </a:r>
              <a:endParaRPr b="0" lang="en-US" sz="9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TextBox 10"/>
            <p:cNvSpPr/>
            <p:nvPr/>
          </p:nvSpPr>
          <p:spPr>
            <a:xfrm>
              <a:off x="581040" y="6730920"/>
              <a:ext cx="5524200" cy="118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398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>
                      <a:alpha val="98000"/>
                    </a:srgbClr>
                  </a:solidFill>
                  <a:effectLst/>
                  <a:uFillTx/>
                  <a:latin typeface="DM Sans"/>
                  <a:ea typeface="DM Sans"/>
                </a:rPr>
                <a:t>The AI model faces challenges such as </a:t>
              </a:r>
              <a:r>
                <a:rPr b="1" lang="en-US" sz="2000" strike="noStrike" u="none">
                  <a:solidFill>
                    <a:srgbClr val="000000">
                      <a:alpha val="98000"/>
                    </a:srgbClr>
                  </a:solidFill>
                  <a:effectLst/>
                  <a:uFillTx/>
                  <a:latin typeface="DM Sans Bold"/>
                  <a:ea typeface="DM Sans Bold"/>
                </a:rPr>
                <a:t>lighting sensitivity</a:t>
              </a:r>
              <a:r>
                <a:rPr b="0" lang="en-US" sz="2000" strike="noStrike" u="none">
                  <a:solidFill>
                    <a:srgbClr val="000000">
                      <a:alpha val="98000"/>
                    </a:srgbClr>
                  </a:solidFill>
                  <a:effectLst/>
                  <a:uFillTx/>
                  <a:latin typeface="DM Sans"/>
                  <a:ea typeface="DM Sans"/>
                </a:rPr>
                <a:t>, potential bias in skin tone dataset, and limited analysis to single-frame images only.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TextBox 11"/>
            <p:cNvSpPr/>
            <p:nvPr/>
          </p:nvSpPr>
          <p:spPr>
            <a:xfrm>
              <a:off x="581040" y="2275920"/>
              <a:ext cx="697212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801"/>
                </a:lnSpc>
                <a:tabLst>
                  <a:tab algn="l" pos="0"/>
                </a:tabLst>
              </a:pPr>
              <a:r>
                <a:rPr b="0" lang="en-US" sz="2000" spc="17" strike="noStrike" u="none">
                  <a:solidFill>
                    <a:srgbClr val="7a7a7a"/>
                  </a:solidFill>
                  <a:effectLst/>
                  <a:uFillTx/>
                  <a:latin typeface="DM Sans"/>
                  <a:ea typeface="DM Sans"/>
                </a:rPr>
                <a:t>LIMITATIONS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 2"/>
          <p:cNvGrpSpPr/>
          <p:nvPr/>
        </p:nvGrpSpPr>
        <p:grpSpPr>
          <a:xfrm>
            <a:off x="11188440" y="96120"/>
            <a:ext cx="6980400" cy="10094400"/>
            <a:chOff x="11188440" y="96120"/>
            <a:chExt cx="6980400" cy="10094400"/>
          </a:xfrm>
        </p:grpSpPr>
        <p:sp>
          <p:nvSpPr>
            <p:cNvPr id="129" name="Freeform 3"/>
            <p:cNvSpPr/>
            <p:nvPr/>
          </p:nvSpPr>
          <p:spPr>
            <a:xfrm>
              <a:off x="11188440" y="96120"/>
              <a:ext cx="6980400" cy="10094400"/>
            </a:xfrm>
            <a:custGeom>
              <a:avLst/>
              <a:gdLst>
                <a:gd name="textAreaLeft" fmla="*/ 0 w 6980400"/>
                <a:gd name="textAreaRight" fmla="*/ 6980760 w 6980400"/>
                <a:gd name="textAreaTop" fmla="*/ 0 h 10094400"/>
                <a:gd name="textAreaBottom" fmla="*/ 10094760 h 10094400"/>
              </a:gdLst>
              <a:ahLst/>
              <a:cxnLst/>
              <a:rect l="textAreaLeft" t="textAreaTop" r="textAreaRight" b="textAreaBottom"/>
              <a:pathLst>
                <a:path w="1081520" h="1563968">
                  <a:moveTo>
                    <a:pt x="33271" y="0"/>
                  </a:moveTo>
                  <a:lnTo>
                    <a:pt x="1048249" y="0"/>
                  </a:lnTo>
                  <a:cubicBezTo>
                    <a:pt x="1057073" y="0"/>
                    <a:pt x="1065536" y="3505"/>
                    <a:pt x="1071775" y="9745"/>
                  </a:cubicBezTo>
                  <a:cubicBezTo>
                    <a:pt x="1078015" y="15984"/>
                    <a:pt x="1081520" y="24447"/>
                    <a:pt x="1081520" y="33271"/>
                  </a:cubicBezTo>
                  <a:lnTo>
                    <a:pt x="1081520" y="1530697"/>
                  </a:lnTo>
                  <a:cubicBezTo>
                    <a:pt x="1081520" y="1549072"/>
                    <a:pt x="1066624" y="1563968"/>
                    <a:pt x="1048249" y="1563968"/>
                  </a:cubicBezTo>
                  <a:lnTo>
                    <a:pt x="33271" y="1563968"/>
                  </a:lnTo>
                  <a:cubicBezTo>
                    <a:pt x="14896" y="1563968"/>
                    <a:pt x="0" y="1549072"/>
                    <a:pt x="0" y="1530697"/>
                  </a:cubicBezTo>
                  <a:lnTo>
                    <a:pt x="0" y="33271"/>
                  </a:lnTo>
                  <a:cubicBezTo>
                    <a:pt x="0" y="24447"/>
                    <a:pt x="3505" y="15984"/>
                    <a:pt x="9745" y="9745"/>
                  </a:cubicBezTo>
                  <a:cubicBezTo>
                    <a:pt x="15984" y="3505"/>
                    <a:pt x="24447" y="0"/>
                    <a:pt x="33271" y="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0" name="Group 4"/>
          <p:cNvGrpSpPr/>
          <p:nvPr/>
        </p:nvGrpSpPr>
        <p:grpSpPr>
          <a:xfrm>
            <a:off x="571680" y="1640520"/>
            <a:ext cx="8419680" cy="3426480"/>
            <a:chOff x="571680" y="1640520"/>
            <a:chExt cx="8419680" cy="3426480"/>
          </a:xfrm>
        </p:grpSpPr>
        <p:sp>
          <p:nvSpPr>
            <p:cNvPr id="131" name="TextBox 5"/>
            <p:cNvSpPr/>
            <p:nvPr/>
          </p:nvSpPr>
          <p:spPr>
            <a:xfrm>
              <a:off x="571680" y="1640520"/>
              <a:ext cx="8419680" cy="8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6001"/>
                </a:lnSpc>
                <a:tabLst>
                  <a:tab algn="l" pos="0"/>
                </a:tabLst>
              </a:pPr>
              <a:r>
                <a:rPr b="0" lang="en-US" sz="6000" spc="-179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Improvement Roadmap</a:t>
              </a:r>
              <a:endParaRPr b="0" lang="en-US" sz="6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TextBox 6"/>
            <p:cNvSpPr/>
            <p:nvPr/>
          </p:nvSpPr>
          <p:spPr>
            <a:xfrm>
              <a:off x="571680" y="3536280"/>
              <a:ext cx="8419680" cy="153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401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Future enhancements to the AI skin analysis module include </a:t>
              </a: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DM Sans Bold"/>
                  <a:ea typeface="DM Sans Bold"/>
                </a:rPr>
                <a:t>GAN-based simulations</a:t>
              </a: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 for improved training data generation, real-time </a:t>
              </a: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DM Sans Bold"/>
                  <a:ea typeface="DM Sans Bold"/>
                </a:rPr>
                <a:t>edge inference</a:t>
              </a: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DM Sans"/>
                  <a:ea typeface="DM Sans"/>
                </a:rPr>
                <a:t> for instant feedback, and advanced segmentation techniques like U-Net and Mask R-CNN to increase detection accuracy across varying skin types and conditions.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TextBox 7"/>
            <p:cNvSpPr/>
            <p:nvPr/>
          </p:nvSpPr>
          <p:spPr>
            <a:xfrm>
              <a:off x="571680" y="2724120"/>
              <a:ext cx="8419680" cy="628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01"/>
                </a:lnSpc>
                <a:tabLst>
                  <a:tab algn="l" pos="0"/>
                </a:tabLst>
              </a:pPr>
              <a:r>
                <a:rPr b="1" lang="en-US" sz="4500" spc="-136" strike="noStrike" u="none">
                  <a:solidFill>
                    <a:srgbClr val="7a7a7a"/>
                  </a:solidFill>
                  <a:effectLst/>
                  <a:uFillTx/>
                  <a:latin typeface="DM Sans Bold"/>
                  <a:ea typeface="DM Sans Bold"/>
                </a:rPr>
                <a:t>Planned Innovations</a:t>
              </a:r>
              <a:endParaRPr b="0" lang="en-US" sz="4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4" name="TextBox 8"/>
          <p:cNvSpPr/>
          <p:nvPr/>
        </p:nvSpPr>
        <p:spPr>
          <a:xfrm>
            <a:off x="4905360" y="520920"/>
            <a:ext cx="311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  <a:tabLst>
                <a:tab algn="l" pos="0"/>
              </a:tabLst>
            </a:pPr>
            <a:r>
              <a:rPr b="1" lang="en-US" sz="1400" spc="-20" strike="noStrike" u="none">
                <a:solidFill>
                  <a:srgbClr val="000000"/>
                </a:solidFill>
                <a:effectLst/>
                <a:uFillTx/>
                <a:latin typeface="DM Sans Bold"/>
                <a:ea typeface="DM Sans Bold"/>
              </a:rPr>
              <a:t>FUTURE ENHANCEMENTS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9"/>
          <p:cNvSpPr/>
          <p:nvPr/>
        </p:nvSpPr>
        <p:spPr>
          <a:xfrm>
            <a:off x="571680" y="520920"/>
            <a:ext cx="311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  <a:tabLst>
                <a:tab algn="l" pos="0"/>
              </a:tabLst>
            </a:pPr>
            <a:r>
              <a:rPr b="1" lang="en-US" sz="1400" spc="-20" strike="noStrike" u="none">
                <a:solidFill>
                  <a:srgbClr val="000000"/>
                </a:solidFill>
                <a:effectLst/>
                <a:uFillTx/>
                <a:latin typeface="DM Sans Bold"/>
                <a:ea typeface="DM Sans Bold"/>
              </a:rPr>
              <a:t>SKIN CONDITION DETECTION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2"/>
          <p:cNvSpPr/>
          <p:nvPr/>
        </p:nvSpPr>
        <p:spPr>
          <a:xfrm>
            <a:off x="666720" y="4194360"/>
            <a:ext cx="16954200" cy="17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000"/>
              </a:lnSpc>
              <a:tabLst>
                <a:tab algn="l" pos="0"/>
              </a:tabLst>
            </a:pPr>
            <a:r>
              <a:rPr b="0" lang="en-US" sz="13000" spc="-388" strike="noStrike" u="none">
                <a:solidFill>
                  <a:srgbClr val="000000"/>
                </a:solidFill>
                <a:effectLst/>
                <a:uFillTx/>
                <a:latin typeface="DM Sans"/>
                <a:ea typeface="DM Sans"/>
              </a:rPr>
              <a:t>Thank you!</a:t>
            </a:r>
            <a:endParaRPr b="0" lang="en-US" sz="1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LibreOffice/25.2.6.2$Linux_X86_64 LibreOffice_project/40d1a0e1d5bdf1afaeae24d9ece32bbb00fa66a4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>Presentation - AI-Powered Skin Condition Detection</dc:description>
  <dc:identifier>DAG6XdTOtPM</dc:identifier>
  <dc:language>en-US</dc:language>
  <cp:lastModifiedBy/>
  <dcterms:modified xsi:type="dcterms:W3CDTF">2025-12-02T19:30:10Z</dcterms:modified>
  <cp:revision>2</cp:revision>
  <dc:subject/>
  <dc:title>Presentation - AI-Powered Skin Condition Detection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